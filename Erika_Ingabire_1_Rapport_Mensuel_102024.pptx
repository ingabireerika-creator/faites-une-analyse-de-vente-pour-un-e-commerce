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Helvetica 75 Bold" panose="020B0804020202020204" pitchFamily="34" charset="0"/>
      <p:bold r:id="rId10"/>
    </p:embeddedFont>
    <p:embeddedFont>
      <p:font typeface="Montserrat" panose="00000500000000000000" pitchFamily="2" charset="0"/>
      <p:regular r:id="rId11"/>
      <p:bold r:id="rId12"/>
    </p:embeddedFont>
    <p:embeddedFont>
      <p:font typeface="Montserrat Bold" panose="00000800000000000000" charset="0"/>
      <p:regular r:id="rId13"/>
    </p:embeddedFont>
    <p:embeddedFont>
      <p:font typeface="Montserrat Medium" panose="00000600000000000000" pitchFamily="2" charset="0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8CEB46-D854-4E2C-90E8-D53EEDB381D7}" v="86" dt="2024-10-16T13:25:45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ABIRE Erika OBS/MKT" userId="f46ce394-44c8-44a5-a36b-cc9bfdab1cda" providerId="ADAL" clId="{098CEB46-D854-4E2C-90E8-D53EEDB381D7}"/>
    <pc:docChg chg="modSld">
      <pc:chgData name="INGABIRE Erika OBS/MKT" userId="f46ce394-44c8-44a5-a36b-cc9bfdab1cda" providerId="ADAL" clId="{098CEB46-D854-4E2C-90E8-D53EEDB381D7}" dt="2024-10-16T13:22:47.650" v="4" actId="20577"/>
      <pc:docMkLst>
        <pc:docMk/>
      </pc:docMkLst>
      <pc:sldChg chg="modSp">
        <pc:chgData name="INGABIRE Erika OBS/MKT" userId="f46ce394-44c8-44a5-a36b-cc9bfdab1cda" providerId="ADAL" clId="{098CEB46-D854-4E2C-90E8-D53EEDB381D7}" dt="2024-10-16T13:22:47.650" v="4" actId="20577"/>
        <pc:sldMkLst>
          <pc:docMk/>
          <pc:sldMk cId="0" sldId="259"/>
        </pc:sldMkLst>
        <pc:spChg chg="mod">
          <ac:chgData name="INGABIRE Erika OBS/MKT" userId="f46ce394-44c8-44a5-a36b-cc9bfdab1cda" providerId="ADAL" clId="{098CEB46-D854-4E2C-90E8-D53EEDB381D7}" dt="2024-10-16T13:22:47.650" v="4" actId="20577"/>
          <ac:spMkLst>
            <pc:docMk/>
            <pc:sldMk cId="0" sldId="259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BA9D9-3C61-4E80-BC8D-1EFAE9B7F996}" type="datetimeFigureOut">
              <a:rPr lang="fr-FR" smtClean="0"/>
              <a:t>16/10/2024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FEF22-A374-43DA-A9E2-D27B57FCE6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136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BF62-D4EC-4268-B782-9BF6A11741FA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CE173-E8A2-4411-81CC-2554B7D8C4A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0B5-EFE5-4067-93DE-490E3F53DA44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30281-8635-4145-BE00-6D670E0A7359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765E-1634-4251-8948-1DDFE17E66AA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5AF87-B454-4474-B6AA-5542E818F4EF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E22D-0BC0-451A-B99B-088052C2C45A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0F8E3-F9D0-4C80-8D03-4729E1C345AA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FD17-AE70-4D8D-A43A-5CD70D1F5BA8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50D4-3DBE-44DB-93E9-30EFE910DD4E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DFCBA-F928-489B-8D38-18E3D3470FD3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Erika Ingabire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C122B-0A51-4331-8051-2EA935913ED3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Erika Ingabire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7A8DD59-0402-D801-ED4A-3379BFDF884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697913" y="10101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05044" y="4897925"/>
            <a:ext cx="5359685" cy="52576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319" y="-190500"/>
            <a:ext cx="7411554" cy="6867270"/>
            <a:chOff x="0" y="0"/>
            <a:chExt cx="16198495" cy="1619849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6198495" cy="16198495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21000"/>
                    </a:srgbClr>
                  </a:gs>
                  <a:gs pos="100000">
                    <a:srgbClr val="2932FF">
                      <a:alpha val="21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56236" y="656236"/>
              <a:ext cx="14886024" cy="14886024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65000"/>
                    </a:srgbClr>
                  </a:gs>
                  <a:gs pos="100000">
                    <a:srgbClr val="2932FF">
                      <a:alpha val="6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589197" y="1589197"/>
              <a:ext cx="13020101" cy="13020101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57000"/>
                    </a:srgbClr>
                  </a:gs>
                  <a:gs pos="100000">
                    <a:srgbClr val="2932FF">
                      <a:alpha val="57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482626" y="2482626"/>
              <a:ext cx="11233242" cy="1123324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150985" y="805678"/>
            <a:ext cx="3952088" cy="407016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97270" y="1403596"/>
            <a:ext cx="1141032" cy="471175"/>
            <a:chOff x="0" y="0"/>
            <a:chExt cx="1521375" cy="628233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628233" cy="628233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5000"/>
                    </a:srgbClr>
                  </a:gs>
                  <a:gs pos="100000">
                    <a:srgbClr val="2932FF">
                      <a:alpha val="1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97714" y="0"/>
              <a:ext cx="628233" cy="628233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50000"/>
                    </a:srgbClr>
                  </a:gs>
                  <a:gs pos="100000">
                    <a:srgbClr val="2932FF">
                      <a:alpha val="5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95428" y="0"/>
              <a:ext cx="628233" cy="628233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75000"/>
                    </a:srgbClr>
                  </a:gs>
                  <a:gs pos="100000">
                    <a:srgbClr val="2932FF">
                      <a:alpha val="7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93143" y="0"/>
              <a:ext cx="628233" cy="628233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5638406" y="5121919"/>
            <a:ext cx="3895602" cy="3941708"/>
            <a:chOff x="63086" y="-19927"/>
            <a:chExt cx="630139" cy="637597"/>
          </a:xfrm>
        </p:grpSpPr>
        <p:sp>
          <p:nvSpPr>
            <p:cNvPr id="34" name="Freeform 34"/>
            <p:cNvSpPr/>
            <p:nvPr/>
          </p:nvSpPr>
          <p:spPr>
            <a:xfrm>
              <a:off x="63086" y="-19927"/>
              <a:ext cx="630139" cy="637597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759196" y="3950076"/>
            <a:ext cx="8528804" cy="96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502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Rapport </a:t>
            </a:r>
            <a:r>
              <a:rPr lang="en-US" sz="3502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mensuel</a:t>
            </a:r>
            <a:r>
              <a:rPr lang="en-US" sz="3502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chez Grand Marché</a:t>
            </a:r>
          </a:p>
        </p:txBody>
      </p:sp>
      <p:sp>
        <p:nvSpPr>
          <p:cNvPr id="36" name="Espace réservé du pied de page 35">
            <a:extLst>
              <a:ext uri="{FF2B5EF4-FFF2-40B4-BE49-F238E27FC236}">
                <a16:creationId xmlns:a16="http://schemas.microsoft.com/office/drawing/2014/main" id="{F14AFB60-4F65-6E4D-5697-EDD38888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9720908"/>
            <a:ext cx="2895600" cy="365125"/>
          </a:xfrm>
        </p:spPr>
        <p:txBody>
          <a:bodyPr/>
          <a:lstStyle/>
          <a:p>
            <a:r>
              <a:rPr lang="en-US" dirty="0"/>
              <a:t>Erika Ingabire</a:t>
            </a:r>
          </a:p>
        </p:txBody>
      </p:sp>
      <p:sp>
        <p:nvSpPr>
          <p:cNvPr id="37" name="Espace réservé du numéro de diapositive 36">
            <a:extLst>
              <a:ext uri="{FF2B5EF4-FFF2-40B4-BE49-F238E27FC236}">
                <a16:creationId xmlns:a16="http://schemas.microsoft.com/office/drawing/2014/main" id="{CFE719C6-49BD-82DD-0A8E-0D0625D4D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21000" y="96626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18268" y="557525"/>
            <a:ext cx="1141032" cy="471175"/>
            <a:chOff x="0" y="0"/>
            <a:chExt cx="1521375" cy="62823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628233" cy="628233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5000"/>
                    </a:srgbClr>
                  </a:gs>
                  <a:gs pos="100000">
                    <a:srgbClr val="2932FF">
                      <a:alpha val="1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7714" y="0"/>
              <a:ext cx="628233" cy="628233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50000"/>
                    </a:srgbClr>
                  </a:gs>
                  <a:gs pos="100000">
                    <a:srgbClr val="2932FF">
                      <a:alpha val="5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95428" y="0"/>
              <a:ext cx="628233" cy="628233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75000"/>
                    </a:srgbClr>
                  </a:gs>
                  <a:gs pos="100000">
                    <a:srgbClr val="2932FF">
                      <a:alpha val="7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93143" y="0"/>
              <a:ext cx="628233" cy="62823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9301575" y="2520565"/>
            <a:ext cx="8986425" cy="5551580"/>
            <a:chOff x="0" y="0"/>
            <a:chExt cx="2366795" cy="14621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66795" cy="1462144"/>
            </a:xfrm>
            <a:custGeom>
              <a:avLst/>
              <a:gdLst/>
              <a:ahLst/>
              <a:cxnLst/>
              <a:rect l="l" t="t" r="r" b="b"/>
              <a:pathLst>
                <a:path w="2366795" h="1462144">
                  <a:moveTo>
                    <a:pt x="0" y="0"/>
                  </a:moveTo>
                  <a:lnTo>
                    <a:pt x="2366795" y="0"/>
                  </a:lnTo>
                  <a:lnTo>
                    <a:pt x="2366795" y="1462144"/>
                  </a:lnTo>
                  <a:lnTo>
                    <a:pt x="0" y="1462144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366795" cy="1500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129662" y="2214856"/>
            <a:ext cx="7530800" cy="5857289"/>
          </a:xfrm>
          <a:custGeom>
            <a:avLst/>
            <a:gdLst/>
            <a:ahLst/>
            <a:cxnLst/>
            <a:rect l="l" t="t" r="r" b="b"/>
            <a:pathLst>
              <a:path w="7530800" h="5857289">
                <a:moveTo>
                  <a:pt x="0" y="0"/>
                </a:moveTo>
                <a:lnTo>
                  <a:pt x="7530800" y="0"/>
                </a:lnTo>
                <a:lnTo>
                  <a:pt x="7530800" y="5857288"/>
                </a:lnTo>
                <a:lnTo>
                  <a:pt x="0" y="5857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028700" y="499532"/>
            <a:ext cx="11885297" cy="604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266" b="1" spc="63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L’essor des visites et le paradoxe des ventes stagnantes</a:t>
            </a:r>
          </a:p>
          <a:p>
            <a:pPr algn="l">
              <a:lnSpc>
                <a:spcPts val="1633"/>
              </a:lnSpc>
            </a:pPr>
            <a:endParaRPr lang="en-US" sz="2266" b="1" spc="63">
              <a:solidFill>
                <a:srgbClr val="171FD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724634" y="2910004"/>
            <a:ext cx="7534666" cy="483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177" lvl="1" indent="-292088" algn="l">
              <a:lnSpc>
                <a:spcPts val="3788"/>
              </a:lnSpc>
              <a:buFont typeface="Arial"/>
              <a:buChar char="•"/>
            </a:pPr>
            <a:r>
              <a:rPr lang="en-US" sz="2705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 nombre de ventes reste relativement stable.</a:t>
            </a:r>
          </a:p>
          <a:p>
            <a:pPr algn="l">
              <a:lnSpc>
                <a:spcPts val="3788"/>
              </a:lnSpc>
            </a:pPr>
            <a:endParaRPr lang="en-US" sz="2705" b="1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84177" lvl="1" indent="-292088" algn="l">
              <a:lnSpc>
                <a:spcPts val="3788"/>
              </a:lnSpc>
              <a:buFont typeface="Arial"/>
              <a:buChar char="•"/>
            </a:pPr>
            <a:r>
              <a:rPr lang="en-US" sz="2705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 nombre de ventes reste encore faible par rapport au volume de trafic</a:t>
            </a:r>
          </a:p>
          <a:p>
            <a:pPr algn="l">
              <a:lnSpc>
                <a:spcPts val="3788"/>
              </a:lnSpc>
            </a:pPr>
            <a:endParaRPr lang="en-US" sz="2705" b="1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84177" lvl="1" indent="-292088" algn="l">
              <a:lnSpc>
                <a:spcPts val="3788"/>
              </a:lnSpc>
              <a:buFont typeface="Arial"/>
              <a:buChar char="•"/>
            </a:pPr>
            <a:r>
              <a:rPr lang="en-US" sz="2705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L’augmentation du trafic n’a pas eu un impact direct et immédiat sur les ventes</a:t>
            </a:r>
          </a:p>
          <a:p>
            <a:pPr algn="l">
              <a:lnSpc>
                <a:spcPts val="3788"/>
              </a:lnSpc>
            </a:pPr>
            <a:endParaRPr lang="en-US" sz="270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20750" y="9041014"/>
            <a:ext cx="12334518" cy="39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23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Problématique</a:t>
            </a:r>
            <a:r>
              <a:rPr lang="en-US" sz="23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comment transformer ces visiteurs curieux en acheteurs </a:t>
            </a:r>
            <a:r>
              <a:rPr lang="en-US" sz="23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convaincus</a:t>
            </a:r>
            <a:r>
              <a:rPr lang="en-US" sz="23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? </a:t>
            </a:r>
          </a:p>
        </p:txBody>
      </p:sp>
      <p:sp>
        <p:nvSpPr>
          <p:cNvPr id="22" name="Espace réservé du pied de page 21">
            <a:extLst>
              <a:ext uri="{FF2B5EF4-FFF2-40B4-BE49-F238E27FC236}">
                <a16:creationId xmlns:a16="http://schemas.microsoft.com/office/drawing/2014/main" id="{90D4ADE3-8AF7-67DF-67C0-0FC94475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9765243"/>
            <a:ext cx="2895600" cy="365125"/>
          </a:xfrm>
        </p:spPr>
        <p:txBody>
          <a:bodyPr/>
          <a:lstStyle/>
          <a:p>
            <a:r>
              <a:rPr lang="en-US" dirty="0"/>
              <a:t>Erika Ingabire</a:t>
            </a:r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99D1FCEF-0247-1B03-7CBB-4674A92B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5042" y="970738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18268" y="557525"/>
            <a:ext cx="1141032" cy="471175"/>
            <a:chOff x="0" y="0"/>
            <a:chExt cx="1521375" cy="62823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628233" cy="628233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5000"/>
                    </a:srgbClr>
                  </a:gs>
                  <a:gs pos="100000">
                    <a:srgbClr val="2932FF">
                      <a:alpha val="1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7714" y="0"/>
              <a:ext cx="628233" cy="628233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50000"/>
                    </a:srgbClr>
                  </a:gs>
                  <a:gs pos="100000">
                    <a:srgbClr val="2932FF">
                      <a:alpha val="5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95428" y="0"/>
              <a:ext cx="628233" cy="628233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75000"/>
                    </a:srgbClr>
                  </a:gs>
                  <a:gs pos="100000">
                    <a:srgbClr val="2932FF">
                      <a:alpha val="7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93143" y="0"/>
              <a:ext cx="628233" cy="62823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9144000" y="2617157"/>
            <a:ext cx="9144000" cy="5095661"/>
            <a:chOff x="0" y="0"/>
            <a:chExt cx="2408296" cy="13420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08296" cy="1342067"/>
            </a:xfrm>
            <a:custGeom>
              <a:avLst/>
              <a:gdLst/>
              <a:ahLst/>
              <a:cxnLst/>
              <a:rect l="l" t="t" r="r" b="b"/>
              <a:pathLst>
                <a:path w="2408296" h="1342067">
                  <a:moveTo>
                    <a:pt x="0" y="0"/>
                  </a:moveTo>
                  <a:lnTo>
                    <a:pt x="2408296" y="0"/>
                  </a:lnTo>
                  <a:lnTo>
                    <a:pt x="2408296" y="1342067"/>
                  </a:lnTo>
                  <a:lnTo>
                    <a:pt x="0" y="1342067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08296" cy="138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28700" y="2057047"/>
            <a:ext cx="7936592" cy="6172905"/>
          </a:xfrm>
          <a:custGeom>
            <a:avLst/>
            <a:gdLst/>
            <a:ahLst/>
            <a:cxnLst/>
            <a:rect l="l" t="t" r="r" b="b"/>
            <a:pathLst>
              <a:path w="7936592" h="6172905">
                <a:moveTo>
                  <a:pt x="0" y="0"/>
                </a:moveTo>
                <a:lnTo>
                  <a:pt x="7936592" y="0"/>
                </a:lnTo>
                <a:lnTo>
                  <a:pt x="7936592" y="6172906"/>
                </a:lnTo>
                <a:lnTo>
                  <a:pt x="0" y="6172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028700" y="490007"/>
            <a:ext cx="11426483" cy="416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2366" b="1" spc="66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L'impact du temps sur les achats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055" y="3772052"/>
            <a:ext cx="8611890" cy="240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3759" lvl="1" indent="-291880" algn="l">
              <a:lnSpc>
                <a:spcPts val="3785"/>
              </a:lnSpc>
              <a:buFont typeface="Arial"/>
              <a:buChar char="•"/>
            </a:pPr>
            <a:r>
              <a:rPr lang="en-US" sz="2703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Les points montre une corrélation positive </a:t>
            </a:r>
          </a:p>
          <a:p>
            <a:pPr algn="l">
              <a:lnSpc>
                <a:spcPts val="3785"/>
              </a:lnSpc>
            </a:pPr>
            <a:endParaRPr lang="en-US" sz="2703" b="1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83759" lvl="1" indent="-291880" algn="l">
              <a:lnSpc>
                <a:spcPts val="3785"/>
              </a:lnSpc>
              <a:buFont typeface="Arial"/>
              <a:buChar char="•"/>
            </a:pPr>
            <a:r>
              <a:rPr lang="en-US" sz="2703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Plus, l’utilisateur passe plus de temps sur le site ,le montant d’achat tend à augmenter</a:t>
            </a:r>
          </a:p>
          <a:p>
            <a:pPr algn="l">
              <a:lnSpc>
                <a:spcPts val="3785"/>
              </a:lnSpc>
            </a:pPr>
            <a:endParaRPr lang="en-US" sz="2703" b="1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254610" y="8712099"/>
            <a:ext cx="11578710" cy="39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23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Problématique</a:t>
            </a:r>
            <a:r>
              <a:rPr lang="en-US" sz="23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comment ce comportement se reflète sur notre chiffre d’affaire? </a:t>
            </a:r>
          </a:p>
        </p:txBody>
      </p:sp>
      <p:sp>
        <p:nvSpPr>
          <p:cNvPr id="22" name="Espace réservé du pied de page 21">
            <a:extLst>
              <a:ext uri="{FF2B5EF4-FFF2-40B4-BE49-F238E27FC236}">
                <a16:creationId xmlns:a16="http://schemas.microsoft.com/office/drawing/2014/main" id="{C53AEE92-616A-C0FF-6577-EE1F1F3A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0" y="9590718"/>
            <a:ext cx="2895600" cy="365125"/>
          </a:xfrm>
        </p:spPr>
        <p:txBody>
          <a:bodyPr/>
          <a:lstStyle/>
          <a:p>
            <a:r>
              <a:rPr lang="en-US" dirty="0"/>
              <a:t>Erika Ingabire</a:t>
            </a:r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B887CFD1-149C-F757-1BD7-9EF63B5B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2212" y="970738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18268" y="557525"/>
            <a:ext cx="1141032" cy="471175"/>
            <a:chOff x="0" y="0"/>
            <a:chExt cx="1521375" cy="62823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628233" cy="628233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5000"/>
                    </a:srgbClr>
                  </a:gs>
                  <a:gs pos="100000">
                    <a:srgbClr val="2932FF">
                      <a:alpha val="1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7714" y="0"/>
              <a:ext cx="628233" cy="628233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50000"/>
                    </a:srgbClr>
                  </a:gs>
                  <a:gs pos="100000">
                    <a:srgbClr val="2932FF">
                      <a:alpha val="5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95428" y="0"/>
              <a:ext cx="628233" cy="628233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75000"/>
                    </a:srgbClr>
                  </a:gs>
                  <a:gs pos="100000">
                    <a:srgbClr val="2932FF">
                      <a:alpha val="7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93143" y="0"/>
              <a:ext cx="628233" cy="62823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9144000" y="1570332"/>
            <a:ext cx="8581617" cy="6158180"/>
            <a:chOff x="0" y="0"/>
            <a:chExt cx="2260179" cy="16219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60179" cy="1621907"/>
            </a:xfrm>
            <a:custGeom>
              <a:avLst/>
              <a:gdLst/>
              <a:ahLst/>
              <a:cxnLst/>
              <a:rect l="l" t="t" r="r" b="b"/>
              <a:pathLst>
                <a:path w="2260179" h="1621907">
                  <a:moveTo>
                    <a:pt x="0" y="0"/>
                  </a:moveTo>
                  <a:lnTo>
                    <a:pt x="2260179" y="0"/>
                  </a:lnTo>
                  <a:lnTo>
                    <a:pt x="2260179" y="1621907"/>
                  </a:lnTo>
                  <a:lnTo>
                    <a:pt x="0" y="1621907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60179" cy="166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883811" y="1061825"/>
            <a:ext cx="8260189" cy="6424591"/>
          </a:xfrm>
          <a:custGeom>
            <a:avLst/>
            <a:gdLst/>
            <a:ahLst/>
            <a:cxnLst/>
            <a:rect l="l" t="t" r="r" b="b"/>
            <a:pathLst>
              <a:path w="8260189" h="6424591">
                <a:moveTo>
                  <a:pt x="0" y="0"/>
                </a:moveTo>
                <a:lnTo>
                  <a:pt x="8260189" y="0"/>
                </a:lnTo>
                <a:lnTo>
                  <a:pt x="8260189" y="6424592"/>
                </a:lnTo>
                <a:lnTo>
                  <a:pt x="0" y="6424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028700" y="490007"/>
            <a:ext cx="11933594" cy="416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2366" b="1" spc="66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L’évolution du Chiffre d'Affaires et la décision d'arrêter le High-Tech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33939" y="1724347"/>
            <a:ext cx="7926474" cy="5324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177" lvl="1" indent="-292088" algn="l">
              <a:lnSpc>
                <a:spcPts val="3788"/>
              </a:lnSpc>
              <a:buFont typeface="Arial"/>
              <a:buChar char="•"/>
            </a:pPr>
            <a:r>
              <a:rPr lang="en-US" sz="2705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 chiffre d’affaire global affiche une croissance continue sur la période de 2019</a:t>
            </a:r>
          </a:p>
          <a:p>
            <a:pPr algn="l">
              <a:lnSpc>
                <a:spcPts val="3788"/>
              </a:lnSpc>
            </a:pPr>
            <a:endParaRPr lang="en-US" sz="2705" b="1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84177" lvl="1" indent="-292088" algn="l">
              <a:lnSpc>
                <a:spcPts val="3788"/>
              </a:lnSpc>
              <a:buFont typeface="Arial"/>
              <a:buChar char="•"/>
            </a:pPr>
            <a:r>
              <a:rPr lang="en-US" sz="2705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Augmentation générale des ventes mais avec des dynamiques différentes selon les catégories </a:t>
            </a:r>
          </a:p>
          <a:p>
            <a:pPr algn="l">
              <a:lnSpc>
                <a:spcPts val="3788"/>
              </a:lnSpc>
            </a:pPr>
            <a:endParaRPr lang="en-US" sz="2705" b="1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84177" lvl="1" indent="-292088" algn="l">
              <a:lnSpc>
                <a:spcPts val="3788"/>
              </a:lnSpc>
              <a:buFont typeface="Arial"/>
              <a:buChar char="•"/>
            </a:pPr>
            <a:r>
              <a:rPr lang="en-US" sz="2705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 categorie high-tech prend une part de plus en plus significative dans le chiffre d’affaire global</a:t>
            </a:r>
          </a:p>
          <a:p>
            <a:pPr algn="l">
              <a:lnSpc>
                <a:spcPts val="3788"/>
              </a:lnSpc>
            </a:pPr>
            <a:endParaRPr lang="en-US" sz="2705" b="1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613346" y="8712099"/>
            <a:ext cx="10861238" cy="39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23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Problématique</a:t>
            </a:r>
            <a:r>
              <a:rPr lang="en-US" sz="23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comment le taux de conversion représente un défi majeur? </a:t>
            </a:r>
          </a:p>
        </p:txBody>
      </p:sp>
      <p:sp>
        <p:nvSpPr>
          <p:cNvPr id="22" name="Espace réservé du pied de page 21">
            <a:extLst>
              <a:ext uri="{FF2B5EF4-FFF2-40B4-BE49-F238E27FC236}">
                <a16:creationId xmlns:a16="http://schemas.microsoft.com/office/drawing/2014/main" id="{D64A81CE-A469-FC79-2422-AB27DEEB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" y="9727033"/>
            <a:ext cx="2895600" cy="365125"/>
          </a:xfrm>
        </p:spPr>
        <p:txBody>
          <a:bodyPr/>
          <a:lstStyle/>
          <a:p>
            <a:r>
              <a:rPr lang="en-US" dirty="0"/>
              <a:t>Erika Ingabire</a:t>
            </a:r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2ECD9EBF-A11E-48D6-76F8-5DFC0041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10341" y="968296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18268" y="557525"/>
            <a:ext cx="1141032" cy="471175"/>
            <a:chOff x="0" y="0"/>
            <a:chExt cx="1521375" cy="62823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628233" cy="628233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5000"/>
                    </a:srgbClr>
                  </a:gs>
                  <a:gs pos="100000">
                    <a:srgbClr val="2932FF">
                      <a:alpha val="1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7714" y="0"/>
              <a:ext cx="628233" cy="628233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50000"/>
                    </a:srgbClr>
                  </a:gs>
                  <a:gs pos="100000">
                    <a:srgbClr val="2932FF">
                      <a:alpha val="5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95428" y="0"/>
              <a:ext cx="628233" cy="628233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75000"/>
                    </a:srgbClr>
                  </a:gs>
                  <a:gs pos="100000">
                    <a:srgbClr val="2932FF">
                      <a:alpha val="7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93143" y="0"/>
              <a:ext cx="628233" cy="62823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9358911" y="3727972"/>
            <a:ext cx="8666859" cy="3163809"/>
            <a:chOff x="0" y="0"/>
            <a:chExt cx="2282630" cy="8332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82630" cy="833266"/>
            </a:xfrm>
            <a:custGeom>
              <a:avLst/>
              <a:gdLst/>
              <a:ahLst/>
              <a:cxnLst/>
              <a:rect l="l" t="t" r="r" b="b"/>
              <a:pathLst>
                <a:path w="2282630" h="833266">
                  <a:moveTo>
                    <a:pt x="0" y="0"/>
                  </a:moveTo>
                  <a:lnTo>
                    <a:pt x="2282630" y="0"/>
                  </a:lnTo>
                  <a:lnTo>
                    <a:pt x="2282630" y="833266"/>
                  </a:lnTo>
                  <a:lnTo>
                    <a:pt x="0" y="833266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82630" cy="871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692147" y="2144356"/>
            <a:ext cx="7743150" cy="6022450"/>
          </a:xfrm>
          <a:custGeom>
            <a:avLst/>
            <a:gdLst/>
            <a:ahLst/>
            <a:cxnLst/>
            <a:rect l="l" t="t" r="r" b="b"/>
            <a:pathLst>
              <a:path w="7743150" h="6022450">
                <a:moveTo>
                  <a:pt x="0" y="0"/>
                </a:moveTo>
                <a:lnTo>
                  <a:pt x="7743149" y="0"/>
                </a:lnTo>
                <a:lnTo>
                  <a:pt x="7743149" y="6022450"/>
                </a:lnTo>
                <a:lnTo>
                  <a:pt x="0" y="6022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028700" y="490007"/>
            <a:ext cx="11426483" cy="416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2366" b="1" spc="66" dirty="0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Le défi de la conversion des </a:t>
            </a:r>
            <a:r>
              <a:rPr lang="en-US" sz="2366" b="1" spc="66" dirty="0" err="1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visites</a:t>
            </a:r>
            <a:r>
              <a:rPr lang="en-US" sz="2366" b="1" spc="66" dirty="0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en ventes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25179" y="4344115"/>
            <a:ext cx="8500592" cy="191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177" lvl="1" indent="-292088" algn="l">
              <a:lnSpc>
                <a:spcPts val="3788"/>
              </a:lnSpc>
              <a:buFont typeface="Arial"/>
              <a:buChar char="•"/>
            </a:pPr>
            <a:r>
              <a:rPr lang="en-US" sz="2705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Baisse du taux de conversion au fil des mois passant environ de 0,11% en avril 2019 à 0,05 en février 2020</a:t>
            </a:r>
          </a:p>
          <a:p>
            <a:pPr algn="l">
              <a:lnSpc>
                <a:spcPts val="3788"/>
              </a:lnSpc>
            </a:pPr>
            <a:endParaRPr lang="en-US" sz="270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17926" y="8468763"/>
            <a:ext cx="11487892" cy="789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7"/>
              </a:lnSpc>
              <a:spcBef>
                <a:spcPct val="0"/>
              </a:spcBef>
            </a:pPr>
            <a:r>
              <a:rPr lang="en-US" sz="229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Problématique</a:t>
            </a:r>
            <a:r>
              <a:rPr lang="en-US" sz="22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comment  créer une expérience en ligne plus engageante, intuitive et fluide pour encourager l’acte d’achat?</a:t>
            </a:r>
          </a:p>
        </p:txBody>
      </p:sp>
      <p:sp>
        <p:nvSpPr>
          <p:cNvPr id="22" name="Espace réservé du pied de page 21">
            <a:extLst>
              <a:ext uri="{FF2B5EF4-FFF2-40B4-BE49-F238E27FC236}">
                <a16:creationId xmlns:a16="http://schemas.microsoft.com/office/drawing/2014/main" id="{14886AC2-3798-6F07-2AB4-FCFC8A435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9583894"/>
            <a:ext cx="2895600" cy="365125"/>
          </a:xfrm>
        </p:spPr>
        <p:txBody>
          <a:bodyPr/>
          <a:lstStyle/>
          <a:p>
            <a:r>
              <a:rPr lang="en-US" dirty="0"/>
              <a:t>Erika Ingabire</a:t>
            </a:r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0A210AAC-B956-6688-1F5E-C036D21B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18927" y="958389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18268" y="557525"/>
            <a:ext cx="1141032" cy="471175"/>
            <a:chOff x="0" y="0"/>
            <a:chExt cx="1521375" cy="62823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628233" cy="628233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5000"/>
                    </a:srgbClr>
                  </a:gs>
                  <a:gs pos="100000">
                    <a:srgbClr val="2932FF">
                      <a:alpha val="1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7714" y="0"/>
              <a:ext cx="628233" cy="628233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50000"/>
                    </a:srgbClr>
                  </a:gs>
                  <a:gs pos="100000">
                    <a:srgbClr val="2932FF">
                      <a:alpha val="5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595428" y="0"/>
              <a:ext cx="628233" cy="628233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75000"/>
                    </a:srgbClr>
                  </a:gs>
                  <a:gs pos="100000">
                    <a:srgbClr val="2932FF">
                      <a:alpha val="75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93143" y="0"/>
              <a:ext cx="628233" cy="62823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8818612" y="2327380"/>
            <a:ext cx="9469388" cy="5940846"/>
            <a:chOff x="0" y="0"/>
            <a:chExt cx="2493995" cy="15646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93995" cy="1564667"/>
            </a:xfrm>
            <a:custGeom>
              <a:avLst/>
              <a:gdLst/>
              <a:ahLst/>
              <a:cxnLst/>
              <a:rect l="l" t="t" r="r" b="b"/>
              <a:pathLst>
                <a:path w="2493995" h="1564667">
                  <a:moveTo>
                    <a:pt x="0" y="0"/>
                  </a:moveTo>
                  <a:lnTo>
                    <a:pt x="2493995" y="0"/>
                  </a:lnTo>
                  <a:lnTo>
                    <a:pt x="2493995" y="1564667"/>
                  </a:lnTo>
                  <a:lnTo>
                    <a:pt x="0" y="1564667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93995" cy="160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869333" y="1757986"/>
            <a:ext cx="8582391" cy="6675193"/>
          </a:xfrm>
          <a:custGeom>
            <a:avLst/>
            <a:gdLst/>
            <a:ahLst/>
            <a:cxnLst/>
            <a:rect l="l" t="t" r="r" b="b"/>
            <a:pathLst>
              <a:path w="8582391" h="6675193">
                <a:moveTo>
                  <a:pt x="0" y="0"/>
                </a:moveTo>
                <a:lnTo>
                  <a:pt x="8582391" y="0"/>
                </a:lnTo>
                <a:lnTo>
                  <a:pt x="8582391" y="6675193"/>
                </a:lnTo>
                <a:lnTo>
                  <a:pt x="0" y="6675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028700" y="499532"/>
            <a:ext cx="11426483" cy="86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466" b="1" spc="69" dirty="0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Temps passé sur le site – </a:t>
            </a:r>
            <a:r>
              <a:rPr lang="en-US" sz="2466" b="1" spc="69" dirty="0" err="1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L'indicateur</a:t>
            </a:r>
            <a:r>
              <a:rPr lang="en-US" sz="2466" b="1" spc="69" dirty="0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466" b="1" spc="69" dirty="0" err="1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clé</a:t>
            </a:r>
            <a:r>
              <a:rPr lang="en-US" sz="2466" b="1" spc="69" dirty="0">
                <a:solidFill>
                  <a:srgbClr val="171F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l'engagement</a:t>
            </a:r>
          </a:p>
          <a:p>
            <a:pPr algn="l">
              <a:lnSpc>
                <a:spcPts val="3453"/>
              </a:lnSpc>
            </a:pPr>
            <a:endParaRPr lang="en-US" sz="2466" b="1" spc="69" dirty="0">
              <a:solidFill>
                <a:srgbClr val="171FD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645919" y="2987113"/>
            <a:ext cx="8307407" cy="4265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177" lvl="1" indent="-292088" algn="l">
              <a:lnSpc>
                <a:spcPts val="3788"/>
              </a:lnSpc>
              <a:buFont typeface="Arial"/>
              <a:buChar char="•"/>
            </a:pPr>
            <a:r>
              <a:rPr lang="en-US" sz="2705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 début, la médiane du temps passé augmente progressivement.</a:t>
            </a:r>
          </a:p>
          <a:p>
            <a:pPr algn="l">
              <a:lnSpc>
                <a:spcPts val="3788"/>
              </a:lnSpc>
            </a:pPr>
            <a:endParaRPr lang="en-US" sz="2705" b="1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84177" lvl="1" indent="-292088" algn="l">
              <a:lnSpc>
                <a:spcPts val="3788"/>
              </a:lnSpc>
              <a:buFont typeface="Arial"/>
              <a:buChar char="•"/>
            </a:pPr>
            <a:r>
              <a:rPr lang="en-US" sz="2705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Grande variabilité avec des pics et des chutes inattendus</a:t>
            </a:r>
          </a:p>
          <a:p>
            <a:pPr algn="l">
              <a:lnSpc>
                <a:spcPts val="3788"/>
              </a:lnSpc>
            </a:pPr>
            <a:endParaRPr lang="en-US" sz="2705" b="1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584177" lvl="1" indent="-292088" algn="l">
              <a:lnSpc>
                <a:spcPts val="3788"/>
              </a:lnSpc>
              <a:buFont typeface="Arial"/>
              <a:buChar char="•"/>
            </a:pPr>
            <a:r>
              <a:rPr lang="en-US" sz="2705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 distingue nettement les périodes où le temps passé sur le site a été particulièrement élevé ou bas.</a:t>
            </a:r>
          </a:p>
        </p:txBody>
      </p:sp>
      <p:sp>
        <p:nvSpPr>
          <p:cNvPr id="21" name="Espace réservé du pied de page 20">
            <a:extLst>
              <a:ext uri="{FF2B5EF4-FFF2-40B4-BE49-F238E27FC236}">
                <a16:creationId xmlns:a16="http://schemas.microsoft.com/office/drawing/2014/main" id="{9041C2E0-5A4B-D8B1-C401-EF735B96E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7800" y="9428693"/>
            <a:ext cx="2895600" cy="365125"/>
          </a:xfrm>
        </p:spPr>
        <p:txBody>
          <a:bodyPr/>
          <a:lstStyle/>
          <a:p>
            <a:r>
              <a:rPr lang="en-US" dirty="0"/>
              <a:t>Erika Ingabire</a:t>
            </a:r>
          </a:p>
        </p:txBody>
      </p:sp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B6684462-4EEB-E30F-E8FB-A9BEF7B2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478471" y="945082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72194" y="520894"/>
            <a:ext cx="10511250" cy="953140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97670" y="672193"/>
            <a:ext cx="8415462" cy="910498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30012" y="1455116"/>
            <a:ext cx="3767659" cy="395384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83444" y="4255402"/>
            <a:ext cx="3847357" cy="384735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390990" y="3072473"/>
            <a:ext cx="7681239" cy="5046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3635" lvl="1" indent="-251818" algn="l">
              <a:lnSpc>
                <a:spcPts val="3265"/>
              </a:lnSpc>
              <a:buFont typeface="Arial"/>
              <a:buChar char="•"/>
            </a:pPr>
            <a:r>
              <a:rPr lang="en-US" sz="2332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Rebâtir l’engagement client autour des nouvelles catégories </a:t>
            </a:r>
          </a:p>
          <a:p>
            <a:pPr algn="l">
              <a:lnSpc>
                <a:spcPts val="3265"/>
              </a:lnSpc>
            </a:pPr>
            <a:endParaRPr lang="en-US" sz="2332" b="1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3635" lvl="1" indent="-251818" algn="l">
              <a:lnSpc>
                <a:spcPts val="3265"/>
              </a:lnSpc>
              <a:buFont typeface="Arial"/>
              <a:buChar char="•"/>
            </a:pPr>
            <a:r>
              <a:rPr lang="en-US" sz="2332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Optimiser les parcours d'achat pour compenser l'absence de la catégorie high-tech </a:t>
            </a:r>
          </a:p>
          <a:p>
            <a:pPr algn="l">
              <a:lnSpc>
                <a:spcPts val="3265"/>
              </a:lnSpc>
            </a:pPr>
            <a:endParaRPr lang="en-US" sz="2332" b="1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3635" lvl="1" indent="-251818" algn="l">
              <a:lnSpc>
                <a:spcPts val="3265"/>
              </a:lnSpc>
              <a:buFont typeface="Arial"/>
              <a:buChar char="•"/>
            </a:pPr>
            <a:r>
              <a:rPr lang="en-US" sz="2332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Capitaliser sur des segments de marché plus prometteurs, comme la nourriture et les biens de consommation, tout en améliorant l'expérience utilisateur.</a:t>
            </a:r>
          </a:p>
          <a:p>
            <a:pPr algn="l">
              <a:lnSpc>
                <a:spcPts val="3265"/>
              </a:lnSpc>
            </a:pPr>
            <a:endParaRPr lang="en-US" sz="2332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390990" y="1502741"/>
            <a:ext cx="7162030" cy="58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4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Axe stratégique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756777" y="2937002"/>
            <a:ext cx="1281787" cy="956063"/>
            <a:chOff x="0" y="0"/>
            <a:chExt cx="1709050" cy="127475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709050" cy="1274750"/>
              <a:chOff x="0" y="0"/>
              <a:chExt cx="360499" cy="26889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60499" cy="268890"/>
              </a:xfrm>
              <a:custGeom>
                <a:avLst/>
                <a:gdLst/>
                <a:ahLst/>
                <a:cxnLst/>
                <a:rect l="l" t="t" r="r" b="b"/>
                <a:pathLst>
                  <a:path w="360499" h="268890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111325"/>
              <a:ext cx="1709050" cy="975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48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315331" y="5343135"/>
            <a:ext cx="1120748" cy="835946"/>
            <a:chOff x="0" y="0"/>
            <a:chExt cx="1494330" cy="1114595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494330" cy="1114595"/>
              <a:chOff x="0" y="0"/>
              <a:chExt cx="360499" cy="26889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60499" cy="268890"/>
              </a:xfrm>
              <a:custGeom>
                <a:avLst/>
                <a:gdLst/>
                <a:ahLst/>
                <a:cxnLst/>
                <a:rect l="l" t="t" r="r" b="b"/>
                <a:pathLst>
                  <a:path w="360499" h="268890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0" y="87765"/>
              <a:ext cx="1494330" cy="862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63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56777" y="7687904"/>
            <a:ext cx="1281787" cy="956063"/>
            <a:chOff x="0" y="0"/>
            <a:chExt cx="1709050" cy="127475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709050" cy="1274750"/>
              <a:chOff x="0" y="0"/>
              <a:chExt cx="360499" cy="26889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60499" cy="268890"/>
              </a:xfrm>
              <a:custGeom>
                <a:avLst/>
                <a:gdLst/>
                <a:ahLst/>
                <a:cxnLst/>
                <a:rect l="l" t="t" r="r" b="b"/>
                <a:pathLst>
                  <a:path w="360499" h="268890">
                    <a:moveTo>
                      <a:pt x="0" y="0"/>
                    </a:moveTo>
                    <a:lnTo>
                      <a:pt x="360499" y="0"/>
                    </a:lnTo>
                    <a:lnTo>
                      <a:pt x="360499" y="268890"/>
                    </a:lnTo>
                    <a:lnTo>
                      <a:pt x="0" y="26889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1119C2">
                      <a:alpha val="100000"/>
                    </a:srgbClr>
                  </a:gs>
                  <a:gs pos="100000">
                    <a:srgbClr val="2932FF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360499" cy="3069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0" y="111325"/>
              <a:ext cx="1709050" cy="975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48"/>
                </a:lnSpc>
              </a:pPr>
              <a:endParaRPr/>
            </a:p>
          </p:txBody>
        </p:sp>
      </p:grpSp>
      <p:sp>
        <p:nvSpPr>
          <p:cNvPr id="29" name="Espace réservé du pied de page 28">
            <a:extLst>
              <a:ext uri="{FF2B5EF4-FFF2-40B4-BE49-F238E27FC236}">
                <a16:creationId xmlns:a16="http://schemas.microsoft.com/office/drawing/2014/main" id="{70141979-69F7-50AD-C727-D914AAF3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332" y="9736385"/>
            <a:ext cx="2895600" cy="365125"/>
          </a:xfrm>
        </p:spPr>
        <p:txBody>
          <a:bodyPr/>
          <a:lstStyle/>
          <a:p>
            <a:r>
              <a:rPr lang="en-US" dirty="0"/>
              <a:t>Erika Ingabire</a:t>
            </a:r>
          </a:p>
        </p:txBody>
      </p:sp>
      <p:sp>
        <p:nvSpPr>
          <p:cNvPr id="30" name="Espace réservé du numéro de diapositive 29">
            <a:extLst>
              <a:ext uri="{FF2B5EF4-FFF2-40B4-BE49-F238E27FC236}">
                <a16:creationId xmlns:a16="http://schemas.microsoft.com/office/drawing/2014/main" id="{C2CFE8AC-16CF-7B5A-5BB6-8AD9CA98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1837" y="968717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338</Words>
  <Application>Microsoft Office PowerPoint</Application>
  <PresentationFormat>Personnalisé</PresentationFormat>
  <Paragraphs>49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6" baseType="lpstr">
      <vt:lpstr>Montserrat Bold</vt:lpstr>
      <vt:lpstr>Montserrat Medium</vt:lpstr>
      <vt:lpstr>Montserrat</vt:lpstr>
      <vt:lpstr>Arial</vt:lpstr>
      <vt:lpstr>Open Sans</vt:lpstr>
      <vt:lpstr>Open Sans Bold</vt:lpstr>
      <vt:lpstr>Calibri</vt:lpstr>
      <vt:lpstr>Helvetica 75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Erika Ingabire</dc:title>
  <dc:creator>INGABIRE Erika OBS/MKT</dc:creator>
  <cp:lastModifiedBy>INGABIRE Erika OBS/MKT</cp:lastModifiedBy>
  <cp:revision>12</cp:revision>
  <dcterms:created xsi:type="dcterms:W3CDTF">2006-08-16T00:00:00Z</dcterms:created>
  <dcterms:modified xsi:type="dcterms:W3CDTF">2024-10-16T13:25:45Z</dcterms:modified>
  <dc:identifier>DAGS-iO87nk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Orange Restricted</vt:lpwstr>
  </property>
</Properties>
</file>